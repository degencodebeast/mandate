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9cc275925a4331" /><Relationship Type="http://schemas.openxmlformats.org/officeDocument/2006/relationships/extended-properties" Target="/docProps/app.xml" Id="R7639d5d8e3634b98" /><Relationship Type="http://schemas.openxmlformats.org/officeDocument/2006/relationships/officeDocument" Target="/ppt/presentation.xml" Id="R28f32b60c9b040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4fd62a6244ee4"/>
  </p:sldMasterIdLst>
  <p:notesMasterIdLst>
    <p:notesMasterId xmlns:r="http://schemas.openxmlformats.org/officeDocument/2006/relationships" r:id="R57b01f0c8f744a6d"/>
  </p:notesMasterIdLst>
  <p:sldIdLst>
    <p:sldId xmlns:r="http://schemas.openxmlformats.org/officeDocument/2006/relationships" id="256" r:id="Rbaf1c0e2e0fb4240"/>
    <p:sldId xmlns:r="http://schemas.openxmlformats.org/officeDocument/2006/relationships" id="257" r:id="R2199d9f24bfe4026"/>
    <p:sldId xmlns:r="http://schemas.openxmlformats.org/officeDocument/2006/relationships" id="258" r:id="R30294bee39764d55"/>
    <p:sldId xmlns:r="http://schemas.openxmlformats.org/officeDocument/2006/relationships" id="259" r:id="Raac3428a5f5b4e8f"/>
    <p:sldId xmlns:r="http://schemas.openxmlformats.org/officeDocument/2006/relationships" id="260" r:id="R36ea39d947db48b2"/>
    <p:sldId xmlns:r="http://schemas.openxmlformats.org/officeDocument/2006/relationships" id="261" r:id="R0c9b3573e29c40be"/>
    <p:sldId xmlns:r="http://schemas.openxmlformats.org/officeDocument/2006/relationships" id="262" r:id="Rc2bcb795fa33470b"/>
    <p:sldId xmlns:r="http://schemas.openxmlformats.org/officeDocument/2006/relationships" id="263" r:id="R03054e1036af45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3711365354792" /><Relationship Type="http://schemas.openxmlformats.org/officeDocument/2006/relationships/slideMaster" Target="/ppt/slideMasters/slideMaster1.xml" Id="R1bd4fd62a6244ee4" /><Relationship Type="http://schemas.openxmlformats.org/officeDocument/2006/relationships/notesMaster" Target="/ppt/notesMasters/notesMaster1.xml" Id="R57b01f0c8f744a6d" /><Relationship Type="http://schemas.openxmlformats.org/officeDocument/2006/relationships/presProps" Target="/ppt/presProps.xml" Id="R73b5920943454aa9" /><Relationship Type="http://schemas.openxmlformats.org/officeDocument/2006/relationships/tableStyles" Target="/ppt/tableStyles.xml" Id="R31723d06aa234598" /><Relationship Type="http://schemas.openxmlformats.org/officeDocument/2006/relationships/slide" Target="/ppt/slides/slide1.xml" Id="Rbaf1c0e2e0fb4240" /><Relationship Type="http://schemas.openxmlformats.org/officeDocument/2006/relationships/slide" Target="/ppt/slides/slide2.xml" Id="R2199d9f24bfe4026" /><Relationship Type="http://schemas.openxmlformats.org/officeDocument/2006/relationships/slide" Target="/ppt/slides/slide3.xml" Id="R30294bee39764d55" /><Relationship Type="http://schemas.openxmlformats.org/officeDocument/2006/relationships/slide" Target="/ppt/slides/slide4.xml" Id="Raac3428a5f5b4e8f" /><Relationship Type="http://schemas.openxmlformats.org/officeDocument/2006/relationships/slide" Target="/ppt/slides/slide5.xml" Id="R36ea39d947db48b2" /><Relationship Type="http://schemas.openxmlformats.org/officeDocument/2006/relationships/slide" Target="/ppt/slides/slide6.xml" Id="R0c9b3573e29c40be" /><Relationship Type="http://schemas.openxmlformats.org/officeDocument/2006/relationships/slide" Target="/ppt/slides/slide7.xml" Id="Rc2bcb795fa33470b" /><Relationship Type="http://schemas.openxmlformats.org/officeDocument/2006/relationships/slide" Target="/ppt/slides/slide8.xml" Id="R03054e1036af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83e8bd8c2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12598b90d648f8" /><Relationship Type="http://schemas.openxmlformats.org/officeDocument/2006/relationships/notesMaster" Target="/ppt/notesMasters/notesMaster1.xml" Id="R8f3c1dc36f1b43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f55f1c53074457" /><Relationship Type="http://schemas.openxmlformats.org/officeDocument/2006/relationships/notesMaster" Target="/ppt/notesMasters/notesMaster1.xml" Id="R938bfa3aa26340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270bc0f714bf9" /><Relationship Type="http://schemas.openxmlformats.org/officeDocument/2006/relationships/notesMaster" Target="/ppt/notesMasters/notesMaster1.xml" Id="Rce62c945f018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434d472e649be" /><Relationship Type="http://schemas.openxmlformats.org/officeDocument/2006/relationships/notesMaster" Target="/ppt/notesMasters/notesMaster1.xml" Id="R189d8ad3015b4a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4859d10e5c436a" /><Relationship Type="http://schemas.openxmlformats.org/officeDocument/2006/relationships/notesMaster" Target="/ppt/notesMasters/notesMaster1.xml" Id="Rf71cbb02da0046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b9592c0e8e4ea4" /><Relationship Type="http://schemas.openxmlformats.org/officeDocument/2006/relationships/notesMaster" Target="/ppt/notesMasters/notesMaster1.xml" Id="R2e5d44a14aeb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2ee083e3914edb" /><Relationship Type="http://schemas.openxmlformats.org/officeDocument/2006/relationships/notesMaster" Target="/ppt/notesMasters/notesMaster1.xml" Id="Rde422a7c58b145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3f6625306d403f" /><Relationship Type="http://schemas.openxmlformats.org/officeDocument/2006/relationships/notesMaster" Target="/ppt/notesMasters/notesMaster1.xml" Id="R88ff35b925b447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payment can succeed even when the agent receives no response. Mandate records one economic Intent so uncertainty cannot become a second authorization. One Intent. No blind retries.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https://github.com/degencodebeast/mandate</a:t>
            </a:r>
          </a:p>
          <a:p xmlns:a="http://schemas.openxmlformats.org/drawingml/2006/main">
            <a:r>
              <a:t>https://github.com/x402-foundation/x402/issues/808</a:t>
            </a:r>
          </a:p>
          <a:p xmlns:a="http://schemas.openxmlformats.org/drawingml/2006/main">
            <a:r>
              <a:t>https://github.com/x402-foundation/x402/issues/1062</a:t>
            </a:r>
          </a:p>
          <a:p xmlns:a="http://schemas.openxmlformats.org/drawingml/2006/main">
            <a:r>
              <a:t>https://github.com/google-agentic-commerce/a2a-x402/issues/60</a:t>
            </a:r>
          </a:p>
          <a:p xmlns:a="http://schemas.openxmlformats.org/drawingml/2006/main">
            <a:r>
              <a:t>https://arxiv.org/abs/2607.19545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authorization, Mandate records one economic Intent under User authority. Intent admission and budget reservation are atomic. REST is the stable agent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https://github.com/degencodebeast/mandate</a:t>
            </a:r>
          </a:p>
          <a:p xmlns:a="http://schemas.openxmlformats.org/drawingml/2006/main">
            <a:r>
              <a:t>https://github.com/x402-foundation/x402/issues/808</a:t>
            </a:r>
          </a:p>
          <a:p xmlns:a="http://schemas.openxmlformats.org/drawingml/2006/main">
            <a:r>
              <a:t>https://github.com/x402-foundation/x402/issues/1062</a:t>
            </a:r>
          </a:p>
          <a:p xmlns:a="http://schemas.openxmlformats.org/drawingml/2006/main">
            <a:r>
              <a:t>https://github.com/google-agentic-commerce/a2a-x402/issues/60</a:t>
            </a:r>
          </a:p>
          <a:p xmlns:a="http://schemas.openxmlformats.org/drawingml/2006/main">
            <a:r>
              <a:t>https://arxiv.org/abs/2607.19545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value may have moved, the Economic Safety State becomes UNKNOWN. A new authorization for that Intent is blocked. The only permitted actions are WAIT or REQUEST_REVIEW.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https://github.com/degencodebeast/mandate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Left: response loss is injected after authorization. Mandate returns WAIT, with zero retries and zero payments to Service B. Right: before payment on a separate Intent, Service A is blocked; Service B completes one real USDC paid action and one Arc Receipt Anchor.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https://github.com/degencodebeast/mandate</a:t>
            </a:r>
          </a:p>
          <a:p xmlns:a="http://schemas.openxmlformats.org/drawingml/2006/main">
            <a:r>
              <a:t>https://testnet.arcscan.app/tx/0xc29eecd907ee53038e1c35c8d974b735f8f996b259f1025bbd77d3cf691c01fd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Intent admission and budget reservation are atomic. Service authority is exact. The Circuit Breaker isolates a failing service before authorization. An admitted Intent may still end with zero payments.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https://github.com/x402-foundation/x402/issues/808</a:t>
            </a:r>
          </a:p>
          <a:p xmlns:a="http://schemas.openxmlformats.org/drawingml/2006/main">
            <a:r>
              <a:t>https://github.com/google-agentic-commerce/a2a-x402/issues/60</a:t>
            </a:r>
          </a:p>
          <a:p xmlns:a="http://schemas.openxmlformats.org/drawingml/2006/main">
            <a:r>
              <a:t>https://github.com/degencodebeast/mandate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UNKNOWN permits WAIT or REQUEST_REVIEW only. REST returns the Economic Safety State and permitted next action. Payment Reference 7def6214-d8d1-4562-9d0a-b50bcff80b72 and Arc Receipt Anchor 0xc29eecd907ee53038e1c35c8d974b735f8f996b259f1025bbd77d3cf691c01fd are different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https://testnet.arcscan.app/tx/0xc29eecd907ee53038e1c35c8d974b735f8f996b259f1025bbd77d3cf691c01fd</a:t>
            </a:r>
          </a:p>
          <a:p xmlns:a="http://schemas.openxmlformats.org/drawingml/2006/main">
            <a:r>
              <a:t>https://github.com/degencodebeast/mandate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Circle moves value. Mandate protects the economic decision. Arc proves the receipt record and makes it independently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https://github.com/degencodebeast/mandate</a:t>
            </a:r>
          </a:p>
          <a:p xmlns:a="http://schemas.openxmlformats.org/drawingml/2006/main">
            <a:r>
              <a:t>https://testnet.arcscan.app/tx/0xc29eecd907ee53038e1c35c8d974b735f8f996b259f1025bbd77d3cf691c01fd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Mandate is financial fault tolerance for autonomous agents. It protects one economic Intent from blind retries. One Intent. No blind retries.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https://github.com/degencodebeast/mandate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1fa27e68e43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f198aacb4f450d" /><Relationship Type="http://schemas.openxmlformats.org/officeDocument/2006/relationships/slideLayout" Target="/ppt/slideLayouts/slideLayout1.xml" Id="Rb13fbdb850bb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3fbdb850bb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fa909dcd84c93" /><Relationship Type="http://schemas.openxmlformats.org/officeDocument/2006/relationships/notesSlide" Target="/ppt/notesSlides/notesSlide1.xml" Id="Ref6b2eec99254e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9735c59ea4586" /><Relationship Type="http://schemas.openxmlformats.org/officeDocument/2006/relationships/notesSlide" Target="/ppt/notesSlides/notesSlide2.xml" Id="Rcf76f72fdc1f4d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87e83036d465d" /><Relationship Type="http://schemas.openxmlformats.org/officeDocument/2006/relationships/notesSlide" Target="/ppt/notesSlides/notesSlide3.xml" Id="R8f8c718804824c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af8501c604319" /><Relationship Type="http://schemas.openxmlformats.org/officeDocument/2006/relationships/hyperlink" Target="https://testnet.arcscan.app/tx/0xc29eecd907ee53038e1c35c8d974b735f8f996b259f1025bbd77d3cf691c01fd" TargetMode="External" Id="R4a7e825e27884752" /><Relationship Type="http://schemas.openxmlformats.org/officeDocument/2006/relationships/notesSlide" Target="/ppt/notesSlides/notesSlide4.xml" Id="R17330b7f07c840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96a28d8a346db" /><Relationship Type="http://schemas.openxmlformats.org/officeDocument/2006/relationships/notesSlide" Target="/ppt/notesSlides/notesSlide5.xml" Id="R9b5dac564dd743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027bf0c5149d1" /><Relationship Type="http://schemas.openxmlformats.org/officeDocument/2006/relationships/hyperlink" Target="https://testnet.arcscan.app/tx/0xc29eecd907ee53038e1c35c8d974b735f8f996b259f1025bbd77d3cf691c01fd" TargetMode="External" Id="R3c08815a5e244a8f" /><Relationship Type="http://schemas.openxmlformats.org/officeDocument/2006/relationships/notesSlide" Target="/ppt/notesSlides/notesSlide6.xml" Id="Rb6c6a511e6d2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1717dff3d4c3a" /><Relationship Type="http://schemas.openxmlformats.org/officeDocument/2006/relationships/notesSlide" Target="/ppt/notesSlides/notesSlide7.xml" Id="R7db0659cd2de46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6e19fbe9249fa" /><Relationship Type="http://schemas.openxmlformats.org/officeDocument/2006/relationships/hyperlink" Target="https://github.com/degencodebeast/mandate" TargetMode="External" Id="R818223ccfed745dc" /><Relationship Type="http://schemas.openxmlformats.org/officeDocument/2006/relationships/notesSlide" Target="/ppt/notesSlides/notesSlide8.xml" Id="R0e6a139c6022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3DD8A-B20B-4A4B-9C9F-3F34C74E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2F0EA"/>
                </a:solidFill>
              </a:defRPr>
            </a:pPr>
            <a:r>
              <a:rPr sz="4650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087E9-1241-41FF-8C68-77FD7B93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387EF-BBCB-4110-BF51-B73C94A1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81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2F0EA"/>
                </a:solidFill>
              </a:defRPr>
            </a:pPr>
            <a:r>
              <a:rPr sz="3750" b="1">
                <a:solidFill>
                  <a:srgbClr val="F2F0EA"/>
                </a:solidFill>
              </a:rPr>
              <a:t>Financial fault tolerance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2F0EA"/>
                </a:solidFill>
              </a:defRPr>
            </a:pPr>
            <a:r>
              <a:rPr sz="3750" b="1">
                <a:solidFill>
                  <a:srgbClr val="F2F0EA"/>
                </a:solidFill>
              </a:rPr>
              <a:t>for autonomous agents.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4E9C8-93E8-4A10-8217-F78D7331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78A7FF"/>
                </a:solidFill>
              </a:defRPr>
            </a:pPr>
            <a:r>
              <a:rPr sz="2550" b="1">
                <a:solidFill>
                  <a:srgbClr val="78A7FF"/>
                </a:solidFill>
              </a:rPr>
              <a:t>One Intent. No blind retries.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4FAF6-AC75-491C-9369-512F6DE1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929298"/>
                </a:solidFill>
              </a:defRPr>
            </a:pPr>
            <a:r>
              <a:rPr sz="2100" b="0">
                <a:solidFill>
                  <a:srgbClr val="929298"/>
                </a:solidFill>
              </a:rPr>
              <a:t>A payment result can become unknown.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929298"/>
                </a:solidFill>
              </a:defRPr>
            </a:pPr>
            <a:r>
              <a:rPr sz="2100" b="0">
                <a:solidFill>
                  <a:srgbClr val="929298"/>
                </a:solidFill>
              </a:rPr>
              <a:t>A blind retry can pay twice.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34136-59F5-4AC2-B5D3-3CE8B039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1276350" cy="1276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26840-6B78-4012-8DCE-D271053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12763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78A7FF"/>
                </a:solidFill>
              </a:defRPr>
            </a:pPr>
            <a:r>
              <a:rPr sz="3300" b="1">
                <a:solidFill>
                  <a:srgbClr val="78A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4E6D7-F975-4ED0-A1AF-1290DFA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BC663-B798-43DC-9485-62CCCD9C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43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2F0EA"/>
                </a:solidFill>
              </a:defRPr>
            </a:pPr>
            <a:r>
              <a:rPr sz="1050" b="1">
                <a:solidFill>
                  <a:srgbClr val="F2F0EA"/>
                </a:solidFill>
              </a:rPr>
              <a:t>ONE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DD5AE-98F4-4A83-ADAE-7FDAED16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NO BLIND RETRIES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5A10A-D7FA-421C-8B96-CF427258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ENCODE × ARC  /  AGENTIC ECONOMY  /  ARC TESTNET + USDC</a:t>
            </a:r>
          </a:p>
        </p:txBody>
      </p:sp>
    </p:spTree>
    <p:extLst>
      <p:ext uri="{BB962C8B-B14F-4D97-AF65-F5344CB8AC3E}">
        <p14:creationId xmlns:p14="http://schemas.microsoft.com/office/powerpoint/2010/main" val="309914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9EDD2-DA20-4A4A-AB58-D7387E81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DDEC1-80F0-4C5B-A2F4-C891377E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C0DFA-91E9-4C35-9C37-0E738857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924F3-5E19-4362-BF93-295A71E7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Mandate records one economic Intent before payment authorization.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37D71-7BB1-42B4-BC48-8C653F8A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89A58-F5E7-4C73-845D-9504255C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BA770-69E6-4E12-A3A0-CAD05EDC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8A7FF"/>
                </a:solidFill>
              </a:defRPr>
            </a:pPr>
            <a:r>
              <a:rPr sz="1425" b="1">
                <a:solidFill>
                  <a:srgbClr val="78A7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A912A-E2B9-4D93-A803-4A39EF2B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0EA"/>
                </a:solidFill>
              </a:defRPr>
            </a:pPr>
            <a:r>
              <a:rPr sz="1875" b="1">
                <a:solidFill>
                  <a:srgbClr val="F2F0EA"/>
                </a:solidFill>
              </a:rPr>
              <a:t>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15B4A-F756-4D60-83AC-47D47C4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29298"/>
                </a:solidFill>
              </a:defRPr>
            </a:pPr>
            <a:r>
              <a:rPr sz="1875" b="0">
                <a:solidFill>
                  <a:srgbClr val="929298"/>
                </a:solidFill>
              </a:rPr>
              <a:t>sets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C4BC6-887C-431D-95B5-D8025DF5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1C7B5-6C5F-48EA-B585-A8FD25DF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67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8A7FF"/>
                </a:solidFill>
              </a:defRPr>
            </a:pPr>
            <a:r>
              <a:rPr sz="1425" b="1">
                <a:solidFill>
                  <a:srgbClr val="78A7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0B0117-BCB5-4681-8853-DC473892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0EA"/>
                </a:solidFill>
              </a:defRPr>
            </a:pPr>
            <a:r>
              <a:rPr sz="1875" b="1">
                <a:solidFill>
                  <a:srgbClr val="F2F0EA"/>
                </a:solidFill>
              </a:rPr>
              <a:t>Intent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C0EF9-3AE7-4113-BF2C-E083DF04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876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29298"/>
                </a:solidFill>
              </a:defRPr>
            </a:pPr>
            <a:r>
              <a:rPr sz="1875" b="0">
                <a:solidFill>
                  <a:srgbClr val="929298"/>
                </a:solidFill>
              </a:rPr>
              <a:t>admitted atomically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51253-B330-4140-804B-E6CB0BDE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0059A-CD5E-46DA-BF46-D8261923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8A7FF"/>
                </a:solidFill>
              </a:defRPr>
            </a:pPr>
            <a:r>
              <a:rPr sz="1425" b="1">
                <a:solidFill>
                  <a:srgbClr val="78A7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70069-10FE-4CF9-8FED-5180D66A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0EA"/>
                </a:solidFill>
              </a:defRPr>
            </a:pPr>
            <a:r>
              <a:rPr sz="1875" b="1">
                <a:solidFill>
                  <a:srgbClr val="F2F0EA"/>
                </a:solidFill>
              </a:rPr>
              <a:t>Budget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B5B943-D8DB-47DC-B98E-E447310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29298"/>
                </a:solidFill>
              </a:defRPr>
            </a:pPr>
            <a:r>
              <a:rPr sz="1875" b="0">
                <a:solidFill>
                  <a:srgbClr val="929298"/>
                </a:solidFill>
              </a:rPr>
              <a:t>reserved atomically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8EAE5-D05B-4551-A8CE-3BE31645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C96F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E6507-A06D-4FB7-8271-3C52B08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96F78"/>
                </a:solidFill>
              </a:defRPr>
            </a:pPr>
            <a:r>
              <a:rPr sz="1425" b="1">
                <a:solidFill>
                  <a:srgbClr val="C96F78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C702BF-5F2B-4A0B-A1D8-BA9D8CC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5433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0EA"/>
                </a:solidFill>
              </a:defRPr>
            </a:pPr>
            <a:r>
              <a:rPr sz="1875" b="1">
                <a:solidFill>
                  <a:srgbClr val="F2F0EA"/>
                </a:solidFill>
              </a:rPr>
              <a:t>Payment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EFF07-18DE-48E8-9AF3-88DFFD9E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76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96F78"/>
                </a:solidFill>
              </a:defRPr>
            </a:pPr>
            <a:r>
              <a:rPr sz="1875" b="1">
                <a:solidFill>
                  <a:srgbClr val="C96F78"/>
                </a:solidFill>
              </a:rPr>
              <a:t>created once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DF6EA-8A04-42B7-8F3A-6C9717EB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F0EA"/>
                </a:solidFill>
              </a:defRPr>
            </a:pPr>
            <a:r>
              <a:rPr sz="2250" b="1">
                <a:solidFill>
                  <a:srgbClr val="F2F0EA"/>
                </a:solidFill>
              </a:rPr>
              <a:t>One Intent can have zero payments.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33B9A-3CC9-4C16-AA3B-1F9D144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8A7FF"/>
                </a:solidFill>
              </a:defRPr>
            </a:pPr>
            <a:r>
              <a:rPr sz="2250" b="1">
                <a:solidFill>
                  <a:srgbClr val="78A7FF"/>
                </a:solidFill>
              </a:rPr>
              <a:t>Authorization exists only after safety checks pass.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30903-099D-4DFB-A006-66AA0276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A266"/>
                </a:solidFill>
              </a:defRPr>
            </a:pPr>
            <a:r>
              <a:rPr sz="1050" b="1">
                <a:solidFill>
                  <a:srgbClr val="C6A266"/>
                </a:solidFill>
              </a:rPr>
              <a:t>BEFORE PAYMENT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AC7DA1-2D25-4804-BEBA-439F2510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REST / STABLE AGENT INTERFACE</a:t>
            </a:r>
          </a:p>
        </p:txBody>
      </p:sp>
    </p:spTree>
    <p:extLst>
      <p:ext uri="{BB962C8B-B14F-4D97-AF65-F5344CB8AC3E}">
        <p14:creationId xmlns:p14="http://schemas.microsoft.com/office/powerpoint/2010/main" val="954102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98960-B5DB-4742-9346-E27B2F4C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C2CDE-8C93-4669-B726-1F84FE54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F1BB9-D61C-446D-A37A-35C4A8D7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E8967-5F20-46A4-A229-6BC5442C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If value may have moved, Mandate blocks a new authorization.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5160D-3791-4CED-A116-C97B430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6F1AB-AC00-4718-B7D7-5DEF183A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C67D5-1386-4E31-8FFA-CB683810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8A7FF"/>
                </a:solidFill>
              </a:defRPr>
            </a:pPr>
            <a:r>
              <a:rPr sz="1575" b="1">
                <a:solidFill>
                  <a:srgbClr val="78A7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E6503-2A69-4BB7-A8E7-770C9E1A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3718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USER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AUTHORITY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26CDA-E498-4B0A-ADA5-1C0BC2B8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DF66B-ACBA-4995-A471-3F72A68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8A7FF"/>
                </a:solidFill>
              </a:defRPr>
            </a:pPr>
            <a:r>
              <a:rPr sz="1575" b="1">
                <a:solidFill>
                  <a:srgbClr val="78A7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68813-046B-4F0B-A41B-6B724B38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ECONOMIC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FE62F-9D78-4BDF-92AF-162CA56B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5D089-87CC-4AA2-B83C-A6F01801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8A7FF"/>
                </a:solidFill>
              </a:defRPr>
            </a:pPr>
            <a:r>
              <a:rPr sz="1575" b="1">
                <a:solidFill>
                  <a:srgbClr val="78A7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9BE09-C93B-499A-A116-289BA01F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PAYMENT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AUTHORIZATION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A8ECF-EC02-4CDB-9AA7-3771439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C9B3B-9A77-444D-8DEF-8B2A20C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8A7FF"/>
                </a:solidFill>
              </a:defRPr>
            </a:pPr>
            <a:r>
              <a:rPr sz="1575" b="1">
                <a:solidFill>
                  <a:srgbClr val="78A7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2EC57-ACEF-4E3F-9C39-98939038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VALUE MAY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HAVE MOVED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F1F953-463F-43B2-BD1C-A6771B5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BB720-21C8-4535-B5DB-199C12B8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78A7FF"/>
                </a:solidFill>
              </a:defRPr>
            </a:pPr>
            <a:r>
              <a:rPr sz="1575" b="1">
                <a:solidFill>
                  <a:srgbClr val="78A7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C45DA-BDD1-4EAF-8014-6642374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NEW AUTHORIZATION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2F0EA"/>
                </a:solidFill>
              </a:defRPr>
            </a:pPr>
            <a:r>
              <a:rPr sz="1275" b="1">
                <a:solidFill>
                  <a:srgbClr val="F2F0EA"/>
                </a:solidFill>
              </a:rPr>
              <a:t>BLOCKED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CD73B-DA3B-4CDD-A800-C8E6B5DF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5B03E2-3FAD-46BD-BEBD-F90850C2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76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6A266"/>
                </a:solidFill>
              </a:defRPr>
            </a:pPr>
            <a:r>
              <a:rPr sz="2250" b="1">
                <a:solidFill>
                  <a:srgbClr val="C6A266"/>
                </a:solidFill>
              </a:rPr>
              <a:t>UNKNOWN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1BA85-91DB-4156-B347-AEDD258F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76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929298"/>
                </a:solidFill>
              </a:defRPr>
            </a:pPr>
            <a:r>
              <a:rPr sz="2250" b="0">
                <a:solidFill>
                  <a:srgbClr val="929298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7DFB5-46BD-46AC-A13A-EE776D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F0EA"/>
                </a:solidFill>
              </a:defRPr>
            </a:pPr>
            <a:r>
              <a:rPr sz="2250" b="1">
                <a:solidFill>
                  <a:srgbClr val="F2F0EA"/>
                </a:solidFill>
              </a:rPr>
              <a:t>WAIT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E9849-F50C-4C8F-9B45-71B6318D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929298"/>
                </a:solidFill>
              </a:defRPr>
            </a:pPr>
            <a:r>
              <a:rPr sz="1800" b="0">
                <a:solidFill>
                  <a:srgbClr val="929298"/>
                </a:solidFill>
              </a:rPr>
              <a:t>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D5AB0-F174-4D21-A820-7765F8AA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F0EA"/>
                </a:solidFill>
              </a:defRPr>
            </a:pPr>
            <a:r>
              <a:rPr sz="2250" b="1">
                <a:solidFill>
                  <a:srgbClr val="F2F0EA"/>
                </a:solidFill>
              </a:rPr>
              <a:t>REQUEST_REVIEW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41AFF9-4DBC-4DE8-A09C-3748B89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00650"/>
            <a:ext cx="758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A26268-F2D2-4C10-B3B4-9202E2EA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816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8A7FF"/>
                </a:solidFill>
              </a:defRPr>
            </a:pPr>
            <a:r>
              <a:rPr sz="2025" b="1">
                <a:solidFill>
                  <a:srgbClr val="78A7FF"/>
                </a:solidFill>
              </a:rPr>
              <a:t>Same Intent. No second authorization.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4EB09-13E2-40BB-82FC-B418258E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ONE INTENT CAN END WITH ZERO PAYMENTS</a:t>
            </a:r>
          </a:p>
        </p:txBody>
      </p:sp>
    </p:spTree>
    <p:extLst>
      <p:ext uri="{BB962C8B-B14F-4D97-AF65-F5344CB8AC3E}">
        <p14:creationId xmlns:p14="http://schemas.microsoft.com/office/powerpoint/2010/main" val="1445709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7B0B3-A60A-49C1-9973-BCE31FFD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F2C96-761C-4565-8C1C-EAE56DF6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90AD5-1DF5-4A26-8911-8A264B5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F6D12-2F4D-4F1F-A21F-DB5E399B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Two proofs show how Mandate handles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1C8C9-8495-44FB-83DD-6F745E6C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B0E2C-20AB-4520-A6CF-DEBD70B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A266"/>
                </a:solidFill>
              </a:defRPr>
            </a:pPr>
            <a:r>
              <a:rPr sz="1050" b="1">
                <a:solidFill>
                  <a:srgbClr val="C6A266"/>
                </a:solidFill>
              </a:rPr>
              <a:t>FREEZE UNKNOWN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BFE5-3534-4C46-BE5F-DCF2DAF8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A7FF"/>
                </a:solidFill>
              </a:defRPr>
            </a:pPr>
            <a:r>
              <a:rPr sz="1050" b="1">
                <a:solidFill>
                  <a:srgbClr val="78A7FF"/>
                </a:solidFill>
              </a:rPr>
              <a:t>SWITCH BEFORE PAYMENT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4713F-1D02-4A45-9481-6AF422F1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2F0EA"/>
                </a:solidFill>
              </a:defRPr>
            </a:pPr>
            <a:r>
              <a:rPr sz="2175" b="1">
                <a:solidFill>
                  <a:srgbClr val="F2F0EA"/>
                </a:solidFill>
              </a:rPr>
              <a:t>Authorization accepted.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2F0EA"/>
                </a:solidFill>
              </a:defRPr>
            </a:pPr>
            <a:r>
              <a:rPr sz="2175" b="1">
                <a:solidFill>
                  <a:srgbClr val="F2F0EA"/>
                </a:solidFill>
              </a:rPr>
              <a:t>Response deliberately lost.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E26FE-F369-48CE-BFF3-48253D2D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241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2F0EA"/>
                </a:solidFill>
              </a:defRPr>
            </a:pPr>
            <a:r>
              <a:rPr sz="2175" b="1">
                <a:solidFill>
                  <a:srgbClr val="F2F0EA"/>
                </a:solidFill>
              </a:rPr>
              <a:t>Service A blocked before authorization.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F2F0EA"/>
                </a:solidFill>
              </a:defRPr>
            </a:pPr>
            <a:r>
              <a:rPr sz="2175" b="1">
                <a:solidFill>
                  <a:srgbClr val="F2F0EA"/>
                </a:solidFill>
              </a:rPr>
              <a:t>A separate Intent selects Service 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5DD38-B676-4DE2-A55D-AA7476BC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6A266"/>
                </a:solidFill>
              </a:defRPr>
            </a:pPr>
            <a:r>
              <a:rPr sz="2250" b="1">
                <a:solidFill>
                  <a:srgbClr val="C6A266"/>
                </a:solidFill>
              </a:rPr>
              <a:t>UNKNOWN  →  WAIT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A41D3-0775-4E63-94C3-1456F292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52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78A7FF"/>
                </a:solidFill>
              </a:defRPr>
            </a:pPr>
            <a:r>
              <a:rPr sz="2250" b="1">
                <a:solidFill>
                  <a:srgbClr val="78A7FF"/>
                </a:solidFill>
              </a:rPr>
              <a:t>SERVICE B  →  PAID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87718-66C8-4E96-876B-A7E8FC24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8BD03-425D-406F-9E51-C3BB97C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86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B4ABD-B7D4-4E90-8356-19E74C6C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04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2F0EA"/>
                </a:solidFill>
              </a:defRPr>
            </a:pPr>
            <a:r>
              <a:rPr sz="5250" b="1">
                <a:solidFill>
                  <a:srgbClr val="F2F0EA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14D9A-5716-47F1-ADCD-F6670A3A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29298"/>
                </a:solidFill>
              </a:defRPr>
            </a:pPr>
            <a:r>
              <a:rPr sz="1800" b="0">
                <a:solidFill>
                  <a:srgbClr val="929298"/>
                </a:solidFill>
              </a:rPr>
              <a:t>retries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A5E10-02F9-4CFB-B13D-28B0E20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10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598EF-3A34-451C-9B34-407D0205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4768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29298"/>
                </a:solidFill>
              </a:defRPr>
            </a:pPr>
            <a:r>
              <a:rPr sz="1500" b="0">
                <a:solidFill>
                  <a:srgbClr val="929298"/>
                </a:solidFill>
              </a:rPr>
              <a:t>payments to Service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83BE1-1D5D-4555-B770-6095AC8E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104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2F0EA"/>
                </a:solidFill>
              </a:defRPr>
            </a:pPr>
            <a:r>
              <a:rPr sz="5250" b="1">
                <a:solidFill>
                  <a:srgbClr val="F2F0EA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5B503-5A2C-42E2-8C7B-F6256DD6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929298"/>
                </a:solidFill>
              </a:defRPr>
            </a:pPr>
            <a:r>
              <a:rPr sz="1800" b="0">
                <a:solidFill>
                  <a:srgbClr val="929298"/>
                </a:solidFill>
              </a:rPr>
              <a:t>paid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20251-3722-4BCB-AD9C-E2FD08C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10200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AC411A-B7DA-4DF7-8A09-C5554963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76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29298"/>
                </a:solidFill>
              </a:defRPr>
            </a:pPr>
            <a:r>
              <a:rPr sz="1500" b="0">
                <a:solidFill>
                  <a:srgbClr val="929298"/>
                </a:solidFill>
                <a:hlinkClick xmlns:r="http://schemas.openxmlformats.org/officeDocument/2006/relationships" r:id="R4a7e825e27884752"/>
              </a:rPr>
              <a:t>Arc Receipt Anchor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2D8FF1-3243-4372-9CCE-7C52D3E9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A266"/>
                </a:solidFill>
              </a:defRPr>
            </a:pPr>
            <a:r>
              <a:rPr sz="1050" b="1">
                <a:solidFill>
                  <a:srgbClr val="C6A266"/>
                </a:solidFill>
              </a:rPr>
              <a:t>INJECTED RESPONSE LOSS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203FB-EA04-49FA-B26B-0E59178C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4293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A7FF"/>
                </a:solidFill>
              </a:defRPr>
            </a:pPr>
            <a:r>
              <a:rPr sz="1050" b="1">
                <a:solidFill>
                  <a:srgbClr val="78A7FF"/>
                </a:solidFill>
              </a:rPr>
              <a:t>REAL USDC PAYMENT</a:t>
            </a:r>
          </a:p>
        </p:txBody>
      </p:sp>
    </p:spTree>
    <p:extLst>
      <p:ext uri="{BB962C8B-B14F-4D97-AF65-F5344CB8AC3E}">
        <p14:creationId xmlns:p14="http://schemas.microsoft.com/office/powerpoint/2010/main" val="1090187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58D81-48D5-4C97-AB6B-1A48E9BF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86B10-2435-4443-B297-A4F15D2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D39E0-406F-41B5-8711-D4EE9DE1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952E0-EBB9-41AA-9021-607DF68F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Four controls make the Intent durable before value moves.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871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476625"/>
                <a:gridCol w="5324475"/>
              </a:tblGrid>
              <a:tr h="8334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8A7FF"/>
                          </a:solidFill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0EA"/>
                          </a:solidFill>
                        </a:rPr>
                        <a:t>ATOMIC INTENT ADMISSION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0EA"/>
                          </a:solidFill>
                        </a:rPr>
                        <a:t>The same objective is recorded once.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8A7FF"/>
                          </a:solidFill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0EA"/>
                          </a:solidFill>
                        </a:rPr>
                        <a:t>ATOMIC BUDGET RESERVATION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0EA"/>
                          </a:solidFill>
                        </a:rPr>
                        <a:t>Concurrent Intents cannot race past budget.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8A7FF"/>
                          </a:solidFill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0EA"/>
                          </a:solidFill>
                        </a:rPr>
                        <a:t>EXACT SERVICE AUTHORITY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0EA"/>
                          </a:solidFill>
                        </a:rPr>
                        <a:t>Authorization is bound to one allowed service.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78A7FF"/>
                          </a:solidFill>
                        </a:rPr>
                        <a:t>04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0EA"/>
                          </a:solidFill>
                        </a:rPr>
                        <a:t>CIRCUIT BREAKER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2F0EA"/>
                          </a:solidFill>
                        </a:rPr>
                        <a:t>A failing service is isolated before authorization.</a:t>
                      </a:r>
                    </a:p>
                  </a:txBody>
                  <a:tcPr marL="91440" marR="91440" marT="45720" marB="45720">
                    <a:solidFill>
                      <a:srgbClr val="0B0B0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14605-CD8C-4FCC-8129-270B506B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8A7FF"/>
                </a:solidFill>
              </a:defRPr>
            </a:pPr>
            <a:r>
              <a:rPr sz="2025" b="1">
                <a:solidFill>
                  <a:srgbClr val="78A7FF"/>
                </a:solidFill>
              </a:rPr>
              <a:t>Intent admission does not imply payment.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6C572-C9DF-4BD9-A52C-B307C83E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ONE INTENT CAN HAVE ZERO PAYMENTS</a:t>
            </a:r>
          </a:p>
        </p:txBody>
      </p:sp>
    </p:spTree>
    <p:extLst>
      <p:ext uri="{BB962C8B-B14F-4D97-AF65-F5344CB8AC3E}">
        <p14:creationId xmlns:p14="http://schemas.microsoft.com/office/powerpoint/2010/main" val="1772666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70D3D-7116-45EC-9BAA-DAB9E909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D8729-E305-448D-83B2-473B827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AE2AA-36B7-4B1E-AA99-FBE8F305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D2BB6-0098-47A5-BFCB-27EA2170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Mandate returns a state—and only safe next actions.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E2320-9924-4AD4-9DF7-6E624599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E5280-E3AF-405C-83B5-469B84C4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F40E9-BB64-48EE-8C9C-6D27597C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A7FF"/>
                </a:solidFill>
              </a:defRPr>
            </a:pPr>
            <a:r>
              <a:rPr sz="1050" b="1">
                <a:solidFill>
                  <a:srgbClr val="78A7FF"/>
                </a:solidFill>
              </a:rPr>
              <a:t>01  ECONOMIC SAFETY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B8260-C404-4767-854F-9C0D91A8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05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02  PERMITTED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CE727-FA09-4649-AC74-36E07A9D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A7FF"/>
                </a:solidFill>
              </a:defRPr>
            </a:pPr>
            <a:r>
              <a:rPr sz="1050" b="1">
                <a:solidFill>
                  <a:srgbClr val="78A7FF"/>
                </a:solidFill>
              </a:rPr>
              <a:t>03  PROOF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E5F6D-E45C-46BA-A5BE-59073639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2F0EA"/>
                </a:solidFill>
              </a:defRPr>
            </a:pPr>
            <a:r>
              <a:rPr sz="3900" b="1">
                <a:solidFill>
                  <a:srgbClr val="F2F0EA"/>
                </a:solidFill>
              </a:rPr>
              <a:t>UNKNOWN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65F98-12D6-4304-AF52-53BE3255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29298"/>
                </a:solidFill>
              </a:defRPr>
            </a:pPr>
            <a:r>
              <a:rPr sz="1875" b="0">
                <a:solidFill>
                  <a:srgbClr val="929298"/>
                </a:solidFill>
              </a:rPr>
              <a:t>value may have moved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1772D-8325-4FE4-86A1-B333B3CF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765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78B994"/>
                </a:solidFill>
              </a:defRPr>
            </a:pPr>
            <a:r>
              <a:rPr sz="2850" b="1">
                <a:solidFill>
                  <a:srgbClr val="78B994"/>
                </a:solidFill>
              </a:rPr>
              <a:t>WAIT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D222C-3F99-47E2-8108-BB347812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29298"/>
                </a:solidFill>
              </a:defRPr>
            </a:pPr>
            <a:r>
              <a:rPr sz="1875" b="0">
                <a:solidFill>
                  <a:srgbClr val="929298"/>
                </a:solidFill>
              </a:rPr>
              <a:t>or REQUEST_REVIEW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9F903-2997-4462-8E36-3C56CF19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F2F0EA"/>
                </a:solidFill>
              </a:defRPr>
            </a:pPr>
            <a:r>
              <a:rPr sz="2625" b="1">
                <a:solidFill>
                  <a:srgbClr val="F2F0EA"/>
                </a:solidFill>
              </a:rPr>
              <a:t>REF ≠ ANCHOR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C5EB3-DE93-4EB6-B9A8-1DFA8240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929298"/>
                </a:solidFill>
              </a:defRPr>
            </a:pPr>
            <a:r>
              <a:rPr sz="2100" b="1">
                <a:solidFill>
                  <a:srgbClr val="929298"/>
                </a:solidFill>
              </a:rPr>
              <a:t>different values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966487-562C-4E93-9DCE-143D1647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REST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AA50B-11D7-45F4-A3C3-62A56CA8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78A7FF"/>
                </a:solidFill>
              </a:defRPr>
            </a:pPr>
            <a:r>
              <a:rPr sz="1875" b="1">
                <a:solidFill>
                  <a:srgbClr val="78A7FF"/>
                </a:solidFill>
              </a:rPr>
              <a:t>state + next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78397-65C3-4B61-B16A-C63A3ED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05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F0EA"/>
                </a:solidFill>
              </a:defRPr>
            </a:pPr>
            <a:r>
              <a:rPr sz="2025" b="1">
                <a:solidFill>
                  <a:srgbClr val="F2F0EA"/>
                </a:solidFill>
              </a:rPr>
              <a:t>New authorization for the same Intent: blocked.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AC509-261B-4B5B-A252-E1B5DF16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8A7FF"/>
                </a:solidFill>
              </a:defRPr>
            </a:pPr>
            <a:r>
              <a:rPr sz="1650" b="1">
                <a:solidFill>
                  <a:srgbClr val="78A7FF"/>
                </a:solidFill>
                <a:hlinkClick xmlns:r="http://schemas.openxmlformats.org/officeDocument/2006/relationships" r:id="R3c08815a5e244a8f"/>
              </a:rPr>
              <a:t>Inspect Arc Receipt Anchor 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AD4A70-808A-4BC8-9E6A-BD5CAEA9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REST / STABLE AGENT INTERFACE</a:t>
            </a:r>
          </a:p>
        </p:txBody>
      </p:sp>
    </p:spTree>
    <p:extLst>
      <p:ext uri="{BB962C8B-B14F-4D97-AF65-F5344CB8AC3E}">
        <p14:creationId xmlns:p14="http://schemas.microsoft.com/office/powerpoint/2010/main" val="781775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37A84C-56BA-4A62-8F3D-071CF63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B6A5B-528A-4FE3-8143-3C993CB4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73FCC-41DB-4EC4-BEA5-FACFDC8B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653B4-E717-4EF2-9C18-3D10439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F0EA"/>
                </a:solidFill>
              </a:defRPr>
            </a:pPr>
            <a:r>
              <a:rPr sz="3150" b="1">
                <a:solidFill>
                  <a:srgbClr val="F2F0EA"/>
                </a:solidFill>
              </a:rPr>
              <a:t>Circle moves value. Arc proves the record. Mandate protects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D3656-D62F-4281-9948-B417888D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0" cy="3086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5998C-02B4-4336-A2C6-4E13278D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292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DDEEE-A0F9-4AA8-AD86-13121245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86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FABE4-B374-4A4D-95C8-A6958CD3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47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2F0EA"/>
                </a:solidFill>
              </a:defRPr>
            </a:pPr>
            <a:r>
              <a:rPr sz="2100" b="1">
                <a:solidFill>
                  <a:srgbClr val="F2F0EA"/>
                </a:solidFill>
              </a:rPr>
              <a:t>AGENT AUTONOMY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93093-F026-49E5-A0A7-443B5013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7FF"/>
          </a:solidFill>
          <a:ln xmlns:a="http://schemas.openxmlformats.org/drawingml/2006/main" w="19050">
            <a:solidFill>
              <a:srgbClr val="78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D9840-1BDE-4414-B9C7-0BD43836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0B0D"/>
                </a:solidFill>
              </a:defRPr>
            </a:pPr>
            <a:r>
              <a:rPr sz="1125" b="1">
                <a:solidFill>
                  <a:srgbClr val="0B0B0D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17199-1ADA-44A3-B70B-43C9271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67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78A7FF"/>
                </a:solidFill>
              </a:defRPr>
            </a:pPr>
            <a:r>
              <a:rPr sz="2100" b="1">
                <a:solidFill>
                  <a:srgbClr val="78A7FF"/>
                </a:solidFill>
              </a:rPr>
              <a:t>MANDATE ECONOMIC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4B308-9012-4076-892B-11F99273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292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A327FD-6482-4ED4-88DA-9F00665A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AF159-5DFB-4616-A3A6-13E7430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862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2F0EA"/>
                </a:solidFill>
              </a:defRPr>
            </a:pPr>
            <a:r>
              <a:rPr sz="2100" b="1">
                <a:solidFill>
                  <a:srgbClr val="F2F0EA"/>
                </a:solidFill>
              </a:rPr>
              <a:t>CIRCLE GATEWAY × x402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A8407-B00F-4EF6-81B9-3AE56CB3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9050">
            <a:solidFill>
              <a:srgbClr val="292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3609F3-FECE-4D74-8594-11426222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43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85B033-7F90-433B-B06C-668C988C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05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2F0EA"/>
                </a:solidFill>
              </a:defRPr>
            </a:pPr>
            <a:r>
              <a:rPr sz="2100" b="1">
                <a:solidFill>
                  <a:srgbClr val="F2F0EA"/>
                </a:solidFill>
              </a:rPr>
              <a:t>ARC RECEIPT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42DDC-BE72-44B4-99E4-EF813D01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60051-8624-4ED8-BDF1-A29A932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6220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2F0EA"/>
                </a:solidFill>
              </a:defRPr>
            </a:pPr>
            <a:r>
              <a:rPr sz="2775" b="1">
                <a:solidFill>
                  <a:srgbClr val="F2F0EA"/>
                </a:solidFill>
              </a:rPr>
              <a:t>Mandate works above</a:t>
            </a:r>
          </a:p>
          <a:p xmlns:a="http://schemas.openxmlformats.org/drawingml/2006/main">
            <a:pPr algn="l">
              <a:buNone/>
              <a:defRPr sz="2775" b="1">
                <a:solidFill>
                  <a:srgbClr val="F2F0EA"/>
                </a:solidFill>
              </a:defRPr>
            </a:pPr>
            <a:r>
              <a:rPr sz="2775" b="1">
                <a:solidFill>
                  <a:srgbClr val="F2F0EA"/>
                </a:solidFill>
              </a:rPr>
              <a:t>the payment rail.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3F231-488F-4782-9211-165E6F0C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81400"/>
            <a:ext cx="3524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929298"/>
                </a:solidFill>
              </a:defRPr>
            </a:pPr>
            <a:r>
              <a:rPr sz="2025" b="0">
                <a:solidFill>
                  <a:srgbClr val="929298"/>
                </a:solidFill>
              </a:rP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E65D6-2352-43B7-B6DC-FED2409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54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8A7FF"/>
                </a:solidFill>
              </a:defRPr>
            </a:pPr>
            <a:r>
              <a:rPr sz="2025" b="1">
                <a:solidFill>
                  <a:srgbClr val="78A7FF"/>
                </a:solidFill>
              </a:rPr>
              <a:t>Arc makes the receipt independently inspectable.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5974E2-3591-4F23-B482-D00B906F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929298"/>
                </a:solidFill>
              </a:defRPr>
            </a:pPr>
            <a:r>
              <a:rPr sz="1050" b="1">
                <a:solidFill>
                  <a:srgbClr val="929298"/>
                </a:solidFill>
              </a:rPr>
              <a:t>REAL USDC  /  OFFICIAL STATUS  /  FAILURE TESTS  /  ONCHAIN RECEIPT</a:t>
            </a:r>
          </a:p>
        </p:txBody>
      </p:sp>
    </p:spTree>
    <p:extLst>
      <p:ext uri="{BB962C8B-B14F-4D97-AF65-F5344CB8AC3E}">
        <p14:creationId xmlns:p14="http://schemas.microsoft.com/office/powerpoint/2010/main" val="5561386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3EF71-4427-442B-A71F-8BDB1C3C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2F0EA"/>
                </a:solidFill>
              </a:defRPr>
            </a:pPr>
            <a:r>
              <a:rPr sz="1125" b="1">
                <a:solidFill>
                  <a:srgbClr val="F2F0EA"/>
                </a:solidFill>
              </a:rPr>
              <a:t>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6947B-7213-456A-A4FA-3F5FB35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71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929298"/>
                </a:solidFill>
              </a:defRPr>
            </a:pPr>
            <a:r>
              <a:rPr sz="1125" b="1">
                <a:solidFill>
                  <a:srgbClr val="92929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DACD2-1C4A-4664-BBEE-B1ED3385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AFAEE-23F4-4617-A616-B8DB24DE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929298"/>
                </a:solidFill>
              </a:defRPr>
            </a:pPr>
            <a:r>
              <a:rPr sz="2925" b="1">
                <a:solidFill>
                  <a:srgbClr val="929298"/>
                </a:solidFill>
              </a:rPr>
              <a:t>Mandate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8BEF7-2BB5-4468-9A1A-5149B21A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75" b="1">
                <a:solidFill>
                  <a:srgbClr val="F2F0EA"/>
                </a:solidFill>
              </a:defRPr>
            </a:pPr>
            <a:r>
              <a:rPr sz="3975" b="1">
                <a:solidFill>
                  <a:srgbClr val="F2F0EA"/>
                </a:solidFill>
              </a:rPr>
              <a:t>Financial fault tolerance</a:t>
            </a:r>
          </a:p>
          <a:p xmlns:a="http://schemas.openxmlformats.org/drawingml/2006/main">
            <a:pPr algn="l">
              <a:buNone/>
              <a:defRPr sz="3975" b="1">
                <a:solidFill>
                  <a:srgbClr val="F2F0EA"/>
                </a:solidFill>
              </a:defRPr>
            </a:pPr>
            <a:r>
              <a:rPr sz="3975" b="1">
                <a:solidFill>
                  <a:srgbClr val="F2F0EA"/>
                </a:solidFill>
              </a:rPr>
              <a:t>for autonomous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1E16-8B32-463C-A088-AA9BA4A6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2A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0AB0-0031-4353-9FEF-E76D1B4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78A7FF"/>
                </a:solidFill>
              </a:defRPr>
            </a:pPr>
            <a:r>
              <a:rPr sz="2625" b="1">
                <a:solidFill>
                  <a:srgbClr val="78A7FF"/>
                </a:solidFill>
              </a:rPr>
              <a:t>One Intent. No blind retries.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380652-225B-4BF9-BE78-A637D1EA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929298"/>
                </a:solidFill>
              </a:defRPr>
            </a:pPr>
            <a:r>
              <a:rPr sz="1650" b="1">
                <a:solidFill>
                  <a:srgbClr val="929298"/>
                </a:solidFill>
              </a:rPr>
              <a:t>Protect the economic decision before the next authorization.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8E01B-4A52-4DE6-99A9-DD002B24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2F0EA"/>
                </a:solidFill>
              </a:defRPr>
            </a:pPr>
            <a:r>
              <a:rPr sz="1725" b="1">
                <a:solidFill>
                  <a:srgbClr val="F2F0EA"/>
                </a:solidFill>
                <a:hlinkClick xmlns:r="http://schemas.openxmlformats.org/officeDocument/2006/relationships" r:id="R818223ccfed745dc"/>
              </a:rPr>
              <a:t>github.com/degencodebeast/mandate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0C6F2-92A4-430A-B9E6-61682F7D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2F0EA"/>
                </a:solidFill>
              </a:defRPr>
            </a:pPr>
            <a:r>
              <a:rPr sz="1725" b="1">
                <a:solidFill>
                  <a:srgbClr val="F2F0EA"/>
                </a:solidFill>
              </a:rPr>
              <a:t>Choose Mandate for autonomous commerce on Arc.</a:t>
            </a:r>
          </a:p>
        </p:txBody>
      </p:sp>
    </p:spTree>
    <p:extLst>
      <p:ext uri="{BB962C8B-B14F-4D97-AF65-F5344CB8AC3E}">
        <p14:creationId xmlns:p14="http://schemas.microsoft.com/office/powerpoint/2010/main" val="513668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2026-08-10T10:02:29.7760000Z</dcterms:created>
  <dcterms:modified xsi:type="dcterms:W3CDTF">2026-08-10T10:02:29.7760000Z</dcterms:modified>
</coreProperties>
</file>